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PRACTICO · INTELIGENCIA ARTIFICIAL · CURSO 2025-2026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Prediccion de diagnostico</a:t>
            </a:r>
            <a:endParaRPr lang="en-US" sz="5200" dirty="0"/>
          </a:p>
          <a:p>
            <a:pPr algn="l" indent="0" marL="0">
              <a:buNone/>
            </a:pPr>
            <a:r>
              <a:rPr lang="en-US" sz="5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cancer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1371600" cy="7315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4290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4755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Estudio de viabilidad mediante Machine Learning y Redes Neuronales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434840"/>
            <a:ext cx="3657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4434840"/>
            <a:ext cx="9144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4480560"/>
            <a:ext cx="3474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50.001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94360" y="5138928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 analizados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51960" y="4434840"/>
            <a:ext cx="3657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51960" y="4434840"/>
            <a:ext cx="91440" cy="12801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4480560"/>
            <a:ext cx="3474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389120" y="5138928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comparados (4 ML + MLP)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4434840"/>
            <a:ext cx="3657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0" y="4434840"/>
            <a:ext cx="91440" cy="1280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3880" y="4480560"/>
            <a:ext cx="3474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0,5748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8183880" y="5138928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del modelo ganador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UAX · Ingenieria Matematica · IA 2025/26   |   Caso de uso: Prediccion de cancer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Portada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228600"/>
            <a:ext cx="548640" cy="54864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28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137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 del proyecto y datos disponibles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5669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viabilidad: ¿pueden los datos del hospital anticipar un diagnóstico de cáncer?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UAX · Ingenieria Matematica · IA 2025/26   |   Caso de uso: Prediccion de cancer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/ 5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2344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hospital recoge datos multimodales de 50.001 pacientes y necesita evaluar si son suficientes para anticipar un diagnostico de cancer mediante modelos de IA. Variable objetivo: cancer (0/1).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1874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48840"/>
            <a:ext cx="9144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1945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50.001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94360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423160" y="2148840"/>
            <a:ext cx="1874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23160" y="2148840"/>
            <a:ext cx="91440" cy="9144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0" y="21945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19,29%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560320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Prevalencia cancer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2148840"/>
            <a:ext cx="2011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89120" y="2148840"/>
            <a:ext cx="91440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2628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4,18:1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526280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desbalance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6 colecciones disponibles (unidas por paciente_id):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5943600" cy="2606040"/>
        </p:xfrm>
        <a:graphic>
          <a:graphicData uri="http://schemas.openxmlformats.org/drawingml/2006/table">
            <a:tbl>
              <a:tblPr/>
              <a:tblGrid>
                <a:gridCol w="1691640"/>
                <a:gridCol w="3703320"/>
                <a:gridCol w="5486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Coleccion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vars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BIOQUIMICOS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Marcadores en sangre (glucosa, hemoglobina, leucocitos...)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 CLINICOS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Comorbilidades + variable objetivo cancer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GENETICOS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Mutaciones oncologicas (BRCA1, TP53, KRAS, EGFR...)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ECONOMICOS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Coste y uso del sistema (⚠ data leakage)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 GENERALES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Habitos de vida (fumador, alcohol, actividad fisica)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 SOCIODEMOGRAFICOS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Edad, nivel educativo, zona, estado civil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6675120" y="1188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 de features con justificacion empirica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675120" y="1508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INCLUIDAS · 7 EXCLUIDAS · 1 TARGET</a:t>
            </a:r>
            <a:endParaRPr lang="en-US" sz="1100" dirty="0"/>
          </a:p>
        </p:txBody>
      </p:sp>
      <p:pic>
        <p:nvPicPr>
          <p:cNvPr id="26" name="Image 0" descr="./figs/06_feature_selec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1783080"/>
            <a:ext cx="5029200" cy="429768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6675120" y="6126480"/>
            <a:ext cx="502920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675120" y="6126480"/>
            <a:ext cx="50292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EXCLUIDAS: 5 por data leakage (coste_total, dias_hospital, coste_farmaco, num_ingresos, vive) · alcohol (varianza 0) · paciente_id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228600"/>
            <a:ext cx="548640" cy="54864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28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137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 de los modelos ML clasicos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5669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modelos entrenados sobre 32.000 muestras y evaluados sobre 10.001 de test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UAX · Ingenieria Matematica · IA 2025/26   |   Caso de uso: Prediccion de cancer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/ 5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2344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de los 4 modelos (umbral 0,50) — con feature engineering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852160" cy="1920240"/>
        </p:xfrm>
        <a:graphic>
          <a:graphicData uri="http://schemas.openxmlformats.org/drawingml/2006/table">
            <a:tbl>
              <a:tblPr/>
              <a:tblGrid>
                <a:gridCol w="365760"/>
                <a:gridCol w="1828800"/>
                <a:gridCol w="914400"/>
                <a:gridCol w="914400"/>
                <a:gridCol w="9144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639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HistGradientBoosting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LogisticRegression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57200" y="365760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confusion · RandomForest (test)</a:t>
            </a:r>
            <a:endParaRPr lang="en-US" sz="1200" dirty="0"/>
          </a:p>
        </p:txBody>
      </p:sp>
      <p:pic>
        <p:nvPicPr>
          <p:cNvPr id="12" name="Image 0" descr="./figs/10_confusion_best_m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931920"/>
            <a:ext cx="2743200" cy="2468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8328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 contra modelo generativo del metadata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383280" y="4251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Spearman ρ = </a:t>
            </a:r>
            <a:pPr indent="0" marL="0">
              <a:buNone/>
            </a:pPr>
            <a:r>
              <a:rPr lang="en-US" sz="16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0,862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383280" y="4663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ranking aprendido (sin feature engineering) y los pesos generativos REALES declarados en el metadata oficial.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3383280" y="53035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El modelo aprende los predictores CORRECTOS. Tras anadir n_mutaciones y n_comorbilidades, esta se convierte en la feature #1 mas importante (sustituye al atajo aprendido).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66751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Curvas ROC y Precision-Recall (test)</a:t>
            </a:r>
            <a:endParaRPr lang="en-US" sz="1300" dirty="0"/>
          </a:p>
        </p:txBody>
      </p:sp>
      <p:pic>
        <p:nvPicPr>
          <p:cNvPr id="18" name="Image 1" descr="./figs/13_roc_pr_m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75120" y="1554480"/>
            <a:ext cx="5120640" cy="23774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7512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features aprendidas (RF + XGBoost)</a:t>
            </a:r>
            <a:endParaRPr lang="en-US" sz="1200" dirty="0"/>
          </a:p>
        </p:txBody>
      </p:sp>
      <p:pic>
        <p:nvPicPr>
          <p:cNvPr id="20" name="Image 2" descr="./figs/14_aprendido_vs_generativ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675120" y="4343400"/>
            <a:ext cx="512064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228600"/>
            <a:ext cx="548640" cy="54864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28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137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 Neuronal Multicapa (MLP) — nucleo tecnico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5669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≈ 46.913 parametros · regularizacion estricta · threshold tuning sin data leakage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UAX · Ingenieria Matematica · IA 2025/26   |   Caso de uso: Prediccion de cancer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/ 5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1887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Arquitectura: Dense(240) → Dense(120) → Dense(60) → Dense(1)</a:t>
            </a:r>
            <a:endParaRPr lang="en-US" sz="1200" dirty="0"/>
          </a:p>
        </p:txBody>
      </p:sp>
      <p:pic>
        <p:nvPicPr>
          <p:cNvPr id="10" name="Image 0" descr="./figs/15_arquitectura_ml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5852160" cy="18288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342900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3429000"/>
            <a:ext cx="91440" cy="8686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3474720"/>
            <a:ext cx="16459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45.961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594360" y="390677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Parametros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377440" y="342900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77440" y="3429000"/>
            <a:ext cx="91440" cy="868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14600" y="3474720"/>
            <a:ext cx="16459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2514600" y="390677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Epocas (EarlyStop)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2011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297680" y="3429000"/>
            <a:ext cx="91440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434840" y="3474720"/>
            <a:ext cx="182880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 s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4434840" y="390677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(CPU)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57200" y="44348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Curvas de entrenamiento por epoca</a:t>
            </a:r>
            <a:endParaRPr lang="en-US" sz="1200" dirty="0"/>
          </a:p>
        </p:txBody>
      </p:sp>
      <p:pic>
        <p:nvPicPr>
          <p:cNvPr id="24" name="Image 1" descr="./figs/16_curvas_entrenamient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4709160"/>
            <a:ext cx="5852160" cy="17830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6675120" y="1188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tuning sobre VALIDACION (sin data leakage)</a:t>
            </a:r>
            <a:endParaRPr lang="en-US" sz="1200" dirty="0"/>
          </a:p>
        </p:txBody>
      </p:sp>
      <p:pic>
        <p:nvPicPr>
          <p:cNvPr id="26" name="Image 2" descr="./figs/17_threshold_tunin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675120" y="1463040"/>
            <a:ext cx="5120640" cy="219456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675120" y="3794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final (test) · MLP vs mejor ML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4114800"/>
          <a:ext cx="5120640" cy="1371600"/>
        </p:xfrm>
        <a:graphic>
          <a:graphicData uri="http://schemas.openxmlformats.org/drawingml/2006/table">
            <a:tbl>
              <a:tblPr/>
              <a:tblGrid>
                <a:gridCol w="2194560"/>
                <a:gridCol w="731520"/>
                <a:gridCol w="731520"/>
                <a:gridCol w="731520"/>
                <a:gridCol w="731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/ config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umbral 0,50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umbral 0,63 (GANADOR)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0D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0D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0D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0D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0DA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 (mejor ML)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639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</a:tr>
            </a:tbl>
          </a:graphicData>
        </a:graphic>
      </p:graphicFrame>
      <p:sp>
        <p:nvSpPr>
          <p:cNvPr id="29" name="Shape 23"/>
          <p:cNvSpPr/>
          <p:nvPr/>
        </p:nvSpPr>
        <p:spPr>
          <a:xfrm>
            <a:off x="6675120" y="5623560"/>
            <a:ext cx="5120640" cy="914400"/>
          </a:xfrm>
          <a:prstGeom prst="rect">
            <a:avLst/>
          </a:prstGeom>
          <a:solidFill>
            <a:srgbClr val="6A0DAD"/>
          </a:solidFill>
          <a:ln w="12700">
            <a:solidFill>
              <a:srgbClr val="6A0DAD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675120" y="5623560"/>
            <a:ext cx="5120640" cy="9144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Hallazgo: la red neuronal gana
</a:t>
            </a:r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threshold tuning sobre validacion (umbral=0,63), </a:t>
            </a:r>
            <a:pPr algn="ctr" indent="0" marL="0">
              <a:buNone/>
            </a:pPr>
            <a:r>
              <a:rPr lang="en-US" sz="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MLP supera a los 4 modelos ML clasicos en F1.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228600"/>
            <a:ext cx="548640" cy="54864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28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137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Comparativa global: 4 ML vs Red Neuronal MLP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5669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chart, curvas ROC y Precision-Recall superpuestas, ranking final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UAX · Ingenieria Matematica · IA 2025/26   |   Caso de uso: Prediccion de cancer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/ 5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de los 5 modelos · 4 metricas</a:t>
            </a:r>
            <a:endParaRPr lang="en-US" sz="1300" dirty="0"/>
          </a:p>
        </p:txBody>
      </p:sp>
      <p:pic>
        <p:nvPicPr>
          <p:cNvPr id="10" name="Image 0" descr="./figs/19_barchart_metric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08760"/>
            <a:ext cx="6858000" cy="2286000"/>
          </a:xfrm>
          <a:prstGeom prst="rect">
            <a:avLst/>
          </a:prstGeom>
        </p:spPr>
      </p:pic>
      <p:pic>
        <p:nvPicPr>
          <p:cNvPr id="11" name="Image 1" descr="./figs/20_roc_glob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06640" y="1508760"/>
            <a:ext cx="2286000" cy="2286000"/>
          </a:xfrm>
          <a:prstGeom prst="rect">
            <a:avLst/>
          </a:prstGeom>
        </p:spPr>
      </p:pic>
      <p:pic>
        <p:nvPicPr>
          <p:cNvPr id="12" name="Image 2" descr="./figs/21_pr_global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784080" y="1508760"/>
            <a:ext cx="2286000" cy="22860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7200" y="3931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final · ordenado por F1 (metrica principal)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51960"/>
          <a:ext cx="6858000" cy="228600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1005840"/>
                <a:gridCol w="1005840"/>
                <a:gridCol w="100584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0DA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umbral 0,63 (PyTorch)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0D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0D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0D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0D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0DA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639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 (+ feat eng)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HistGradientBoosting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LogisticRegression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9"/>
          <p:cNvSpPr/>
          <p:nvPr/>
        </p:nvSpPr>
        <p:spPr>
          <a:xfrm>
            <a:off x="749808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Precision–Recall</a:t>
            </a:r>
            <a:endParaRPr lang="en-US" sz="1300" dirty="0"/>
          </a:p>
        </p:txBody>
      </p:sp>
      <p:pic>
        <p:nvPicPr>
          <p:cNvPr id="16" name="Image 3" descr="./figs/22_pr_zoom_operating_poin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98080" y="4251960"/>
            <a:ext cx="4572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228600"/>
            <a:ext cx="548640" cy="54864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28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137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Viabilidad y modelo recomendado para el hospital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5669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del estudio: KPIs clave, limitaciones y datos adicionales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UAX · Ingenieria Matematica · IA 2025/26   |   Caso de uso: Prediccion de cancer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/ 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3657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234440"/>
            <a:ext cx="91440" cy="1371600"/>
          </a:xfrm>
          <a:prstGeom prst="rect">
            <a:avLst/>
          </a:prstGeom>
          <a:solidFill>
            <a:srgbClr val="6A0DAD"/>
          </a:solidFill>
          <a:ln w="12700">
            <a:solidFill>
              <a:srgbClr val="6A0DA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280160"/>
            <a:ext cx="34747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A0D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0,5748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94360" y="19888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 — MLP umbral 0,63 (PyTorch)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51960" y="1234440"/>
            <a:ext cx="3657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51960" y="1234440"/>
            <a:ext cx="91440" cy="1371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1280160"/>
            <a:ext cx="34747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389120" y="19888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— 1.210 de 1.929 casos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234440"/>
            <a:ext cx="3657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0" y="1234440"/>
            <a:ext cx="9144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83880" y="1280160"/>
            <a:ext cx="34747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0,84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183880" y="19888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— discriminacion global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788920"/>
            <a:ext cx="11247120" cy="6858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788920"/>
            <a:ext cx="11247120" cy="6858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VIABLE COMO SISTEMA DE CRIBADO  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inicial de priorizacion, no diagnostico definitivo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703320"/>
            <a:ext cx="55321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703320"/>
            <a:ext cx="91440" cy="2743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3886200"/>
            <a:ext cx="411480" cy="41148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280160" y="388620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DEL SISTEMA ACTUAL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31520" y="4416552"/>
            <a:ext cx="4983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52628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sintetico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Logistica + ruido N(0; 0,8). Sociodemograficas sin senal real.</a:t>
            </a:r>
            <a:endParaRPr lang="en-US" sz="11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datos longitudinales ni imagenes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evolucion temporal, mamografias, TC y patologia.</a:t>
            </a:r>
            <a:endParaRPr lang="en-US" sz="11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Calibracion sobre-confiada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 sesga las probabilidades. Aplicar Platt scaling.</a:t>
            </a:r>
            <a:endParaRPr lang="en-US" sz="11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FP vs FN no parametrizado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oncologia, un FN suele costar mucho mas que un FP.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29400" y="3703320"/>
            <a:ext cx="55321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629400" y="3703320"/>
            <a:ext cx="91440" cy="2743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03720" y="388620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3720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7452360" y="388620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ADICIONALES QUE MEJORARIAN EL MODELO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4416552"/>
            <a:ext cx="4983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03720" y="452628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Marcadores tumorales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CA-125 (ovario), CEA (colorrectal), PSA (prostata), AFP, HE4.</a:t>
            </a:r>
            <a:endParaRPr lang="en-US" sz="11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Imagenologia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Mamografia digital, TC torax/abdomen, RM hepatica.</a:t>
            </a:r>
            <a:endParaRPr lang="en-US" sz="11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longitudinales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Evolucion temporal de bioquimicos (12-24 meses).</a:t>
            </a:r>
            <a:endParaRPr lang="en-US" sz="11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familiar y exposicion ambiental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grado, ocupacion (amianto, radon, radiacion).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228600"/>
            <a:ext cx="548640" cy="54864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28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97280" y="137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 finales del estudio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5669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hallazgos clave que avalan el rigor metodologico del trabajo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5532120" cy="2587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34440"/>
            <a:ext cx="91440" cy="25877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1508760"/>
            <a:ext cx="594360" cy="5943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508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508760" y="141732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0,5748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508760" y="1984248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 DEL GANADOR (MLP)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7240" y="2331720"/>
            <a:ext cx="493776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423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cribado viable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7240" y="2926080"/>
            <a:ext cx="5029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MLP en PyTorch supera a los 4 modelos ML clasicos. Detecta el 63 % de los pacientes con cancer entre los 10.001 de test, con 53 % de precision.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72200" y="1234440"/>
            <a:ext cx="5532120" cy="2587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1234440"/>
            <a:ext cx="91440" cy="2587752"/>
          </a:xfrm>
          <a:prstGeom prst="rect">
            <a:avLst/>
          </a:prstGeom>
          <a:solidFill>
            <a:srgbClr val="6A0DAD"/>
          </a:solidFill>
          <a:ln w="12700">
            <a:solidFill>
              <a:srgbClr val="6A0DA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92240" y="1508760"/>
            <a:ext cx="594360" cy="594360"/>
          </a:xfrm>
          <a:prstGeom prst="ellipse">
            <a:avLst/>
          </a:prstGeom>
          <a:solidFill>
            <a:srgbClr val="6A0DAD"/>
          </a:solidFill>
          <a:ln w="12700">
            <a:solidFill>
              <a:srgbClr val="6A0D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1508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223760" y="141732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A0D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0,84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7223760" y="1984248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GLOBAL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492240" y="2331720"/>
            <a:ext cx="493776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2423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neuronal supera a los arboles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92240" y="2926080"/>
            <a:ext cx="5029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threshold tuning sobre validacion (umbral=0,63), el MLP queda 1º en F1 por delante de RandomForest (0,5719). Los 5 modelos comparten AUC ≈ 0,84.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005072"/>
            <a:ext cx="5532120" cy="2587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005072"/>
            <a:ext cx="91440" cy="25877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4279392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2793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ρ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1508760" y="4187952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0,862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1508760" y="4754880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77240" y="5102352"/>
            <a:ext cx="493776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validado contra el modelo generativo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77240" y="5696712"/>
            <a:ext cx="5029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Correlacion entre el ranking aprendido y los pesos verdaderos del metadata oficial. El modelo aprende los predictores correctos.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72200" y="4005072"/>
            <a:ext cx="5532120" cy="2587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72200" y="4005072"/>
            <a:ext cx="91440" cy="25877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92240" y="4279392"/>
            <a:ext cx="594360" cy="5943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92240" y="42793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7223760" y="4187952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SEED=42</a:t>
            </a:r>
            <a:endParaRPr lang="en-US" sz="3400" dirty="0"/>
          </a:p>
        </p:txBody>
      </p:sp>
      <p:sp>
        <p:nvSpPr>
          <p:cNvPr id="39" name="Text 37"/>
          <p:cNvSpPr/>
          <p:nvPr/>
        </p:nvSpPr>
        <p:spPr>
          <a:xfrm>
            <a:off x="7223760" y="4754880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REPRODUCIBILIDAD ESTRICTA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492240" y="5102352"/>
            <a:ext cx="493776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92240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data leakage en ninguna fase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492240" y="5696712"/>
            <a:ext cx="5029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tuning sobre validacion. Test intacto hasta el final. Scaler ajustado solo en train. cudnn.deterministic = True en PyTorch.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UAX · Ingenieria Matematica · IA 2025/26   |   Caso de uso: Prediccion de cancer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finales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UAX 2025/26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Prediccion de Diagnostico de Cancer</dc:title>
  <dc:subject>Estudio de viabilidad ML vs Red Neuronal MLP</dc:subject>
  <dc:creator>Equipo UAX Ingenieria Matematica</dc:creator>
  <cp:lastModifiedBy>Equipo UAX Ingenieria Matematica</cp:lastModifiedBy>
  <cp:revision>1</cp:revision>
  <dcterms:created xsi:type="dcterms:W3CDTF">2026-05-18T18:56:27Z</dcterms:created>
  <dcterms:modified xsi:type="dcterms:W3CDTF">2026-05-18T18:56:27Z</dcterms:modified>
</cp:coreProperties>
</file>