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PRACTICO · INTELIGENCIA ARTIFICIAL · CURSO 2025-2026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Prediccion de diagnostico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cancer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3716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Estudio de viabilidad mediante Machine Learning y Redes Neuronales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4434840"/>
            <a:ext cx="9144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48056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513892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analizados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44348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4434840"/>
            <a:ext cx="91440" cy="12801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48056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513892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comparados (4 ML + MLP)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44348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443484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4480560"/>
            <a:ext cx="3474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0,5719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83880" y="513892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del modelo ganador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del proyecto y datos disponibles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viabilidad: ¿pueden los datos del hospital anticipar un diagnóstico de cáncer?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hospital recoge datos multimodales de 50.001 pacientes y necesita evaluar si son suficientes para anticipar un diagnostico de cancer mediante modelos de IA. Variable objetivo: cancer (0/1).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91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50.001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2148840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2148840"/>
            <a:ext cx="9144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19,29%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60320" y="2651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cancer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1488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14884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4,18:1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262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desbalance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colecciones disponibles (unidas por paciente_id):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5943600" cy="2606040"/>
        </p:xfrm>
        <a:graphic>
          <a:graphicData uri="http://schemas.openxmlformats.org/drawingml/2006/table">
            <a:tbl>
              <a:tblPr/>
              <a:tblGrid>
                <a:gridCol w="1691640"/>
                <a:gridCol w="3703320"/>
                <a:gridCol w="548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vars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BIOQUIMICOS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Marcadores en sangre (glucosa, hemoglobina, leucocitos...)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CLINICOS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Comorbilidades + variable objetivo cancer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GENETICOS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Mutaciones oncologicas (BRCA1, TP53, KRAS, EGFR...)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ECONOMICOS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y uso del sistema (⚠ data leakage)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GENERALES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Habitos de vida (fumador, alcohol, actividad fisica)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SOCIODEMOGRAFICOS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Edad, nivel educativo, zona, estado civil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67512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 de features con justificacion empirica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75120" y="1508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INCLUIDAS · 7 EXCLUIDAS · 1 TARGET</a:t>
            </a:r>
            <a:endParaRPr lang="en-US" sz="1100" dirty="0"/>
          </a:p>
        </p:txBody>
      </p:sp>
      <p:pic>
        <p:nvPicPr>
          <p:cNvPr id="26" name="Image 0" descr="./figs/06_feature_sele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83080"/>
            <a:ext cx="5029200" cy="42976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675120" y="6126480"/>
            <a:ext cx="502920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75120" y="612648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EXCLUIDAS: 5 por data leakage (coste_total, dias_hospital, coste_farmaco, num_ingresos, vive) · alcohol (varianza 0) · paciente_id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de los modelos ML clasicos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 entrenados sobre 32.000 muestras y evaluados sobre 10.001 de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los 4 modelos (umbral 0,50) — con feature engineering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852160" cy="192024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657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confusion · RandomForest (test)</a:t>
            </a:r>
            <a:endParaRPr lang="en-US" sz="1200" dirty="0"/>
          </a:p>
        </p:txBody>
      </p:sp>
      <p:pic>
        <p:nvPicPr>
          <p:cNvPr id="12" name="Image 0" descr="./figs/10_confusion_best_m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931920"/>
            <a:ext cx="2743200" cy="2468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contra modelo generativo del metadata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ρ = </a:t>
            </a:r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0,862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ranking aprendido (sin feature engineering) y los pesos generativos REALES declarados en el metadata oficial.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83280" y="530352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El modelo aprende los predictores CORRECTOS. Tras anadir n_mutaciones y n_comorbilidades, esta se convierte en la feature #1 mas importante (sustituye al atajo aprendido).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67512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ROC y Precision-Recall (test)</a:t>
            </a:r>
            <a:endParaRPr lang="en-US" sz="1300" dirty="0"/>
          </a:p>
        </p:txBody>
      </p:sp>
      <p:pic>
        <p:nvPicPr>
          <p:cNvPr id="18" name="Image 1" descr="./figs/13_roc_pr_m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75120" y="1554480"/>
            <a:ext cx="5120640" cy="2377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aprendidas (RF + XGBoost)</a:t>
            </a:r>
            <a:endParaRPr lang="en-US" sz="1200" dirty="0"/>
          </a:p>
        </p:txBody>
      </p:sp>
      <p:pic>
        <p:nvPicPr>
          <p:cNvPr id="20" name="Image 2" descr="./figs/14_aprendido_vs_generativ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0" y="4343400"/>
            <a:ext cx="51206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Neuronal Multicapa (MLP) — nucleo tecnico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≈ 46.913 parametros · regularizacion estricta · threshold tuning sin data leakage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Dense(240) → Dense(120) → Dense(60) → Dense(1)</a:t>
            </a:r>
            <a:endParaRPr lang="en-US" sz="1200" dirty="0"/>
          </a:p>
        </p:txBody>
      </p:sp>
      <p:pic>
        <p:nvPicPr>
          <p:cNvPr id="10" name="Image 0" descr="./figs/15_arquitectura_ml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5852160" cy="1828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34290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429000"/>
            <a:ext cx="9144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474720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46.801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94360" y="390677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77440" y="34290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377440" y="3429000"/>
            <a:ext cx="914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14600" y="3474720"/>
            <a:ext cx="164592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514600" y="390677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Epocas (EarlyStop)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34290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97680" y="3429000"/>
            <a:ext cx="9144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34840" y="3474720"/>
            <a:ext cx="18288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s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434840" y="390677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(CPU)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434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entrenamiento por epoca</a:t>
            </a:r>
            <a:endParaRPr lang="en-US" sz="1200" dirty="0"/>
          </a:p>
        </p:txBody>
      </p:sp>
      <p:pic>
        <p:nvPicPr>
          <p:cNvPr id="24" name="Image 1" descr="./figs/16_curvas_entrenamient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4709160"/>
            <a:ext cx="5852160" cy="17830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75120" y="1188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sobre VALIDACION (sin data leakage)</a:t>
            </a:r>
            <a:endParaRPr lang="en-US" sz="1200" dirty="0"/>
          </a:p>
        </p:txBody>
      </p:sp>
      <p:pic>
        <p:nvPicPr>
          <p:cNvPr id="26" name="Image 2" descr="./figs/17_threshold_tuni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0" y="1463040"/>
            <a:ext cx="5120640" cy="21945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(test) · MLP vs mejor ML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114800"/>
          <a:ext cx="5120640" cy="13716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731520"/>
                <a:gridCol w="731520"/>
                <a:gridCol w="731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/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umbral 0,50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umbral 0,64 (optimo)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A0D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(GANADOR)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29" name="Shape 23"/>
          <p:cNvSpPr/>
          <p:nvPr/>
        </p:nvSpPr>
        <p:spPr>
          <a:xfrm>
            <a:off x="6675120" y="5623560"/>
            <a:ext cx="5120640" cy="9144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675120" y="5623560"/>
            <a:ext cx="5120640" cy="914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metodologico
</a:t>
            </a:r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feature engineering (n_mutaciones, n_comorbilidades) </a:t>
            </a:r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los arboles pero no al MLP. RandomForest gana.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global: 4 ML vs Red Neuronal MLP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curvas ROC y Precision-Recall superpuestas, ranking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los 5 modelos · 4 metricas</a:t>
            </a:r>
            <a:endParaRPr lang="en-US" sz="1300" dirty="0"/>
          </a:p>
        </p:txBody>
      </p:sp>
      <p:pic>
        <p:nvPicPr>
          <p:cNvPr id="10" name="Image 0" descr="./figs/19_barchart_metric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08760"/>
            <a:ext cx="6858000" cy="2286000"/>
          </a:xfrm>
          <a:prstGeom prst="rect">
            <a:avLst/>
          </a:prstGeom>
        </p:spPr>
      </p:pic>
      <p:pic>
        <p:nvPicPr>
          <p:cNvPr id="11" name="Image 1" descr="./figs/20_roc_glob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06640" y="1508760"/>
            <a:ext cx="2286000" cy="2286000"/>
          </a:xfrm>
          <a:prstGeom prst="rect">
            <a:avLst/>
          </a:prstGeom>
        </p:spPr>
      </p:pic>
      <p:pic>
        <p:nvPicPr>
          <p:cNvPr id="12" name="Image 2" descr="./figs/21_pr_glob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84080" y="1508760"/>
            <a:ext cx="2286000" cy="2286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final · ordenado por F1 (metrica principal)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6858000" cy="22860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005840"/>
                <a:gridCol w="100584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 (+ feat eng)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A0D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(umbral 0,69)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7498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Precision–Recall</a:t>
            </a:r>
            <a:endParaRPr lang="en-US" sz="1300" dirty="0"/>
          </a:p>
        </p:txBody>
      </p:sp>
      <p:pic>
        <p:nvPicPr>
          <p:cNvPr id="16" name="Image 3" descr="./figs/22_pr_zoom_operating_poin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98080" y="425196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Viabilidad y modelo recomendado para el hospital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estudio: KPIs clave, limitaciones y datos adicionales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91440" cy="1371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8016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0,5719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19888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— RandomForest + feat eng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2344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23444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28016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67 %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19888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— 1.292 de 1.929 casos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2344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234440"/>
            <a:ext cx="914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280160"/>
            <a:ext cx="3474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183880" y="19888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— discriminacion global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1124712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88920"/>
            <a:ext cx="1124712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COMO SISTEMA DE CRIBADO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inicial de priorizacion, no diagnostico definitivo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5532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03320"/>
            <a:ext cx="91440" cy="2743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80160" y="3886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SISTEMA ACTUAL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416552"/>
            <a:ext cx="4983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26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sintetico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 + ruido N(0; 0,8). Sociodemograficas sin senal real.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longitudinales ni imagenes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evolucion temporal, mamografias, TC y patologia.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Calibracion sobre-confiada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sesga las probabilidades. Aplicar Platt scaling.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FP vs FN no parametrizado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oncologia, un FN suele costar mucho mas que un FP.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3703320"/>
            <a:ext cx="55321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3703320"/>
            <a:ext cx="91440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3886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52360" y="3886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ADICIONALES QUE MEJORARIAN EL MODELO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4416552"/>
            <a:ext cx="4983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45262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 tumorales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CA-125 (ovario), CEA (colorrectal), PSA (prostata), AFP, HE4.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Imagenologia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Mamografia digital, TC torax/abdomen, RM hepatica.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longitudinales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 temporal de bioquimicos (12-24 meses).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familiar y exposicion ambiental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grado, ocupacion (amianto, radon, radiacion).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548640" cy="5486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37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finales del estudio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hallazgos clave que avalan el rigor metodologico del trabajo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91440" cy="2587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14173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08760" y="19842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331720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cribado viable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67 % de los pacientes con cancer entre los 10.001 de test. Suficiente como filtro inicial de priorizacion clinica.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234440"/>
            <a:ext cx="91440" cy="25877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508760"/>
            <a:ext cx="594360" cy="5943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23760" y="14173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+0,008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223760" y="19842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 RF · −0,015 EN MLP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2331720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no es universal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926080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n_mutaciones y n_comorbilidades ayudan a los arboles pero perjudican al MLP. Hallazgo metodologico defendible.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05072"/>
            <a:ext cx="91440" cy="2587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279392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79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508760" y="4187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0,862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1508760" y="4754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7240" y="5102352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193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validado contra el modelo generativo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7240" y="5696712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 entre el ranking aprendido y los pesos verdaderos del metadata oficial. El modelo aprende los predictores correctos.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005072"/>
            <a:ext cx="5532120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4005072"/>
            <a:ext cx="91440" cy="2587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7939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279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λ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23760" y="4187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SEED=42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223760" y="4754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ESTRICTA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5102352"/>
            <a:ext cx="49377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193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data leakage en ninguna fase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92240" y="5696712"/>
            <a:ext cx="5029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sobre validacion. Test intacto hasta el final. Scaler ajustado solo en train. Seeds fijos en todas las fases.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UAX · Ingenieria Matematica · IA 2025/26   |   Caso de uso: Prediccion de cancer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finales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UAX 2025/26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 de Diagnostico de Cancer</dc:title>
  <dc:subject>Estudio de viabilidad ML vs Red Neuronal MLP</dc:subject>
  <dc:creator>Equipo UAX Ingenieria Matematica</dc:creator>
  <cp:lastModifiedBy>Equipo UAX Ingenieria Matematica</cp:lastModifiedBy>
  <cp:revision>1</cp:revision>
  <dcterms:created xsi:type="dcterms:W3CDTF">2026-05-13T13:21:02Z</dcterms:created>
  <dcterms:modified xsi:type="dcterms:W3CDTF">2026-05-13T13:21:02Z</dcterms:modified>
</cp:coreProperties>
</file>