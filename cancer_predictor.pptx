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4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479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ortada_hospit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46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CADCFC"/>
                </a:solidFill>
                <a:latin typeface="Calibri"/>
              </a:rPr>
              <a:t>CASO PRACTICO  ·  INTELIGENCIA ARTIFICIAL  ·  CURSO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515600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 dirty="0" err="1">
                <a:solidFill>
                  <a:srgbClr val="FFFFFF"/>
                </a:solidFill>
                <a:latin typeface="Georgia"/>
              </a:rPr>
              <a:t>Predicci</a:t>
            </a:r>
            <a:r>
              <a:rPr lang="es-ES" sz="5400" b="1" dirty="0" err="1">
                <a:solidFill>
                  <a:srgbClr val="FFFFFF"/>
                </a:solidFill>
                <a:latin typeface="Georgia"/>
              </a:rPr>
              <a:t>ó</a:t>
            </a:r>
            <a:r>
              <a:rPr sz="5400" b="1" dirty="0">
                <a:solidFill>
                  <a:srgbClr val="FFFFFF"/>
                </a:solidFill>
                <a:latin typeface="Georgia"/>
              </a:rPr>
              <a:t>n de </a:t>
            </a:r>
            <a:r>
              <a:rPr sz="5400" b="1" dirty="0" err="1">
                <a:solidFill>
                  <a:srgbClr val="FFFFFF"/>
                </a:solidFill>
                <a:latin typeface="Georgia"/>
              </a:rPr>
              <a:t>diagn</a:t>
            </a:r>
            <a:r>
              <a:rPr lang="es-ES" sz="5400" b="1" dirty="0" err="1">
                <a:solidFill>
                  <a:srgbClr val="FFFFFF"/>
                </a:solidFill>
                <a:latin typeface="Georgia"/>
              </a:rPr>
              <a:t>ó</a:t>
            </a:r>
            <a:r>
              <a:rPr sz="5400" b="1" dirty="0" err="1">
                <a:solidFill>
                  <a:srgbClr val="FFFFFF"/>
                </a:solidFill>
                <a:latin typeface="Georgia"/>
              </a:rPr>
              <a:t>stico</a:t>
            </a:r>
            <a:endParaRPr sz="5400" b="1" dirty="0">
              <a:solidFill>
                <a:srgbClr val="FFFFFF"/>
              </a:solidFill>
              <a:latin typeface="Georgia"/>
            </a:endParaRPr>
          </a:p>
          <a:p>
            <a:pPr algn="l"/>
            <a:r>
              <a:rPr sz="5400" b="1" dirty="0">
                <a:solidFill>
                  <a:srgbClr val="FFFFFF"/>
                </a:solidFill>
                <a:latin typeface="Georgia"/>
              </a:rPr>
              <a:t>de c</a:t>
            </a:r>
            <a:r>
              <a:rPr lang="es-ES" sz="5400" b="1" dirty="0">
                <a:solidFill>
                  <a:srgbClr val="FFFFFF"/>
                </a:solidFill>
                <a:latin typeface="Georgia"/>
              </a:rPr>
              <a:t>á</a:t>
            </a:r>
            <a:r>
              <a:rPr sz="5400" b="1" dirty="0" err="1">
                <a:solidFill>
                  <a:srgbClr val="FFFFFF"/>
                </a:solidFill>
                <a:latin typeface="Georgia"/>
              </a:rPr>
              <a:t>ncer</a:t>
            </a:r>
            <a:endParaRPr sz="54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3931920"/>
            <a:ext cx="137160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515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i="1">
                <a:solidFill>
                  <a:srgbClr val="CADCFC"/>
                </a:solidFill>
                <a:latin typeface="Georgia"/>
              </a:rPr>
              <a:t>Estudio de viabilidad mediante Machine Learning y Redes Neuronales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3727" y="5074920"/>
            <a:ext cx="3566160" cy="132588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3727" y="5074920"/>
            <a:ext cx="9144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887" y="5120640"/>
            <a:ext cx="3429000" cy="72923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1E2761"/>
                </a:solidFill>
                <a:latin typeface="Georgia"/>
              </a:rPr>
              <a:t>50.001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5804154"/>
            <a:ext cx="342900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1E2761"/>
                </a:solidFill>
                <a:latin typeface="Calibri"/>
              </a:rPr>
              <a:t>Pacientes analizados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2767" y="5074920"/>
            <a:ext cx="3566160" cy="132588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2767" y="5074920"/>
            <a:ext cx="91440" cy="1325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9927" y="5120640"/>
            <a:ext cx="3429000" cy="72923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E63946"/>
                </a:solidFill>
                <a:latin typeface="Georg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9927" y="5804154"/>
            <a:ext cx="342900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1E2761"/>
                </a:solidFill>
                <a:latin typeface="Calibri"/>
              </a:rPr>
              <a:t>Modelos comparados (4 ML + MLP)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1807" y="5074920"/>
            <a:ext cx="3566160" cy="1325880"/>
          </a:xfrm>
          <a:prstGeom prst="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1807" y="5074920"/>
            <a:ext cx="91440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8967" y="5120640"/>
            <a:ext cx="3429000" cy="72923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Georgia"/>
              </a:rPr>
              <a:t>0,5748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8967" y="5804154"/>
            <a:ext cx="342900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>
                <a:solidFill>
                  <a:srgbClr val="1E2761"/>
                </a:solidFill>
                <a:latin typeface="Calibri"/>
              </a:rPr>
              <a:t>F1 del modelo ganador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>
                <a:solidFill>
                  <a:srgbClr val="9FA8C3"/>
                </a:solidFill>
                <a:latin typeface="Calibri"/>
              </a:rPr>
              <a:t>UAX · Ingenieria Matematica · IA 2025/26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58368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>
                <a:solidFill>
                  <a:srgbClr val="9FA8C3"/>
                </a:solidFill>
                <a:latin typeface="Calibri"/>
              </a:rPr>
              <a:t>Portada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del proyecto y datos disponibles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viabilidad: ¿pueden los datos del hospital anticipar un diagnóstico de cáncer?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hospital recoge datos multimodales de 50.001 pacientes y necesita evaluar si son suficientes para anticipar un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cáncer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mediante modelos de IA. Variable objetivo: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cáncer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(0/1).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874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914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2148840"/>
            <a:ext cx="1874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423160" y="2148840"/>
            <a:ext cx="91440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56032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19,29%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6032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Prevalencia cancer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1488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389120" y="214884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2628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4,18:1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2628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desbalance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colecciones disponibles (unidas por paciente_id):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5943600" cy="256032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Coleccion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vars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BIOQUIMICOS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Marcadores en sangre (glucosa, hemoglobina, leucocitos...)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CLINICOS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Comorbilidades + variable objetivo cancer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GENETICOS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Mutaciones oncologicas (BRCA1, TP53, KRAS, EGFR...)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ECONOMICOS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Coste y uso del sistema (⚠ data leakage)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GENERALES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Habitos de vida (fumador, alcohol, actividad fisica)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SOCIODEMOGRAFICOS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Edad, nivel educativo, zona, estado civil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667512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features con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empírica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7512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INCLUIDAS · 7 EXCLUIDAS · 1 TARGET</a:t>
            </a:r>
            <a:endParaRPr lang="en-US" sz="1100" dirty="0"/>
          </a:p>
        </p:txBody>
      </p:sp>
      <p:pic>
        <p:nvPicPr>
          <p:cNvPr id="26" name="Image 0" descr="./figs/06_feature_selec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5120" y="1783080"/>
            <a:ext cx="5029200" cy="42976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675120" y="6126480"/>
            <a:ext cx="502920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4"/>
          <p:cNvSpPr/>
          <p:nvPr/>
        </p:nvSpPr>
        <p:spPr>
          <a:xfrm>
            <a:off x="6675120" y="6126480"/>
            <a:ext cx="5029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EXCLUIDAS: 5 por data leakage (coste_total, dias_hospital, coste_farmaco, num_ingresos, vive) · alcohol (varianza 0) · paciente_id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de los modelos ML clasicos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modelos entrenados sobre 32.000 muestras y evaluados sobre 10.001 de 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los 4 modelos (umbral 0,50) — con feature engineering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852160" cy="18288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657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confusion · RandomForest (test)</a:t>
            </a:r>
            <a:endParaRPr lang="en-US" sz="1200" dirty="0"/>
          </a:p>
        </p:txBody>
      </p:sp>
      <p:pic>
        <p:nvPicPr>
          <p:cNvPr id="12" name="Image 0" descr="./figs/10_confusion_best_m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931920"/>
            <a:ext cx="2743200" cy="2468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 modelo generativo del metadata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 ρ = </a:t>
            </a:r>
            <a:r>
              <a:rPr lang="en-US" sz="1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0,862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ranking aprendido (sin feature engineering) y los pesos generativos REALES declarados en el metadata oficial.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83280" y="53035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El modelo aprende los predictores CORRECTOS. Tras anadir n_mutaciones y n_comorbilidades, esta se convierte en la feature #1 mas importante (sustituye al atajo aprendido).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67512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ROC y Precision-Recall (test)</a:t>
            </a:r>
            <a:endParaRPr lang="en-US" sz="1300" dirty="0"/>
          </a:p>
        </p:txBody>
      </p:sp>
      <p:pic>
        <p:nvPicPr>
          <p:cNvPr id="18" name="Image 1" descr="./figs/13_roc_pr_m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75120" y="1554480"/>
            <a:ext cx="5120640" cy="2377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features aprendidas (RF + XGBoost)</a:t>
            </a:r>
            <a:endParaRPr lang="en-US" sz="1200" dirty="0"/>
          </a:p>
        </p:txBody>
      </p:sp>
      <p:pic>
        <p:nvPicPr>
          <p:cNvPr id="20" name="Image 2" descr="./figs/14_aprendido_vs_generativo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75120" y="4343400"/>
            <a:ext cx="51206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Neuronal Multicapa (MLP) — </a:t>
            </a:r>
            <a:r>
              <a:rPr lang="en-US" sz="2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núcleo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técnico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≈ 46.913 parametros · </a:t>
            </a:r>
            <a:r>
              <a:rPr lang="en-US" sz="12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regularización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estricta · threshold tuning sin data leakage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Dense(240) → Dense(120) → Dense(60) → Dense(1)</a:t>
            </a:r>
            <a:endParaRPr lang="en-US" sz="1200" dirty="0"/>
          </a:p>
        </p:txBody>
      </p:sp>
      <p:pic>
        <p:nvPicPr>
          <p:cNvPr id="10" name="Image 0" descr="./figs/15_arquitectura_ml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5852160" cy="1828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34290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7200" y="3429000"/>
            <a:ext cx="91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594360" y="3474720"/>
            <a:ext cx="16459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45.961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94360" y="390677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377440" y="34290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2377440" y="3429000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2514600" y="3474720"/>
            <a:ext cx="16459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514600" y="390677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Epocas (EarlyStop)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342900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4297680" y="3429000"/>
            <a:ext cx="9144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4434840" y="3474720"/>
            <a:ext cx="18288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s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434840" y="390677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(CPU)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4348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entrenamiento por epoca</a:t>
            </a:r>
            <a:endParaRPr lang="en-US" sz="1200" dirty="0"/>
          </a:p>
        </p:txBody>
      </p:sp>
      <p:pic>
        <p:nvPicPr>
          <p:cNvPr id="24" name="Image 1" descr="./figs/16_curvas_entrenamient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4709160"/>
            <a:ext cx="5852160" cy="17830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675120" y="1188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sobre VALIDACION (sin data leakage)</a:t>
            </a:r>
            <a:endParaRPr lang="en-US" sz="1200" dirty="0"/>
          </a:p>
        </p:txBody>
      </p:sp>
      <p:pic>
        <p:nvPicPr>
          <p:cNvPr id="26" name="Image 2" descr="./figs/17_threshold_tuning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75120" y="1463040"/>
            <a:ext cx="5120640" cy="21945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75120" y="3794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 (test) · MLP vs mejor ML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4114800"/>
          <a:ext cx="5120640" cy="13167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/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umbral 0,50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umbral 0,63 (GANADOR)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(mejor ML)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Shape 23"/>
          <p:cNvSpPr/>
          <p:nvPr/>
        </p:nvSpPr>
        <p:spPr>
          <a:xfrm>
            <a:off x="6675120" y="5623560"/>
            <a:ext cx="5120640" cy="91440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4"/>
          <p:cNvSpPr/>
          <p:nvPr/>
        </p:nvSpPr>
        <p:spPr>
          <a:xfrm>
            <a:off x="6675120" y="5623560"/>
            <a:ext cx="51206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Hallazgo: la red neuronal gana
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threshold tuning sobre validacion (umbral=0,63), </a:t>
            </a: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MLP supera a los 4 modelos ML clasicos en F1.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Comparativa global: 4 ML vs Red Neuronal MLP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curvas ROC y Precision-Recall superpuestas, ranking final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los 5 modelos · 4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300" dirty="0"/>
          </a:p>
        </p:txBody>
      </p:sp>
      <p:pic>
        <p:nvPicPr>
          <p:cNvPr id="10" name="Image 0" descr="./figs/19_barchart_metrica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08760"/>
            <a:ext cx="6858000" cy="2286000"/>
          </a:xfrm>
          <a:prstGeom prst="rect">
            <a:avLst/>
          </a:prstGeom>
        </p:spPr>
      </p:pic>
      <p:pic>
        <p:nvPicPr>
          <p:cNvPr id="11" name="Image 1" descr="./figs/20_roc_glob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06640" y="1508760"/>
            <a:ext cx="2286000" cy="2286000"/>
          </a:xfrm>
          <a:prstGeom prst="rect">
            <a:avLst/>
          </a:prstGeom>
        </p:spPr>
      </p:pic>
      <p:pic>
        <p:nvPicPr>
          <p:cNvPr id="12" name="Image 2" descr="./figs/21_pr_globa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784080" y="1508760"/>
            <a:ext cx="2286000" cy="2286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final · ordenado por F1 (metrica principal)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6858000" cy="21945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umbral 0,63 (PyTorch)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0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(+ feat eng)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49808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Precision–Recall</a:t>
            </a:r>
            <a:endParaRPr lang="en-US" sz="1300" dirty="0"/>
          </a:p>
        </p:txBody>
      </p:sp>
      <p:pic>
        <p:nvPicPr>
          <p:cNvPr id="16" name="Image 3" descr="./figs/22_pr_zoom_operating_point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98080" y="425196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Viabilidad y modelo recomendado para el hospital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del estudio: KPIs clave, limitaciones y datos adicionales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91440" cy="137160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94360" y="1280160"/>
            <a:ext cx="3474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A0D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0,5748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" y="19888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— MLP umbral 0,63 (PyTorch)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2344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251960" y="1234440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389120" y="1280160"/>
            <a:ext cx="3474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0" y="19888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1.210 de 1.929 casos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2344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8046720" y="1234440"/>
            <a:ext cx="914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183880" y="1280160"/>
            <a:ext cx="3474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183880" y="19888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— discriminacion global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112471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57200" y="2788920"/>
            <a:ext cx="1124712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COMO SISTEMA DE CRIBADO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inicial de </a:t>
            </a:r>
            <a:r>
              <a:rPr lang="en-US" sz="12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2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definitivo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5532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91440" cy="2743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80160" y="3886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DEL SISTEMA ACTUAL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416552"/>
            <a:ext cx="4983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sintético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Logistica + ruido N(0; 0,8). Sociodemograficas sin senal real.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longitudinales </a:t>
            </a: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evolucion temporal, mamografias, TC y patologia.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sobre-confiada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sesga las probabilidades. Aplicar Platt scaling.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FP vs FN no parametrizado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oncologia, un FN suele costar mucho mas que un FP.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3703320"/>
            <a:ext cx="5532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6629400" y="3703320"/>
            <a:ext cx="91440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6903720" y="38862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69037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452360" y="3886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ADICIONALES QUE MEJORARÍAN EL MODELO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4416552"/>
            <a:ext cx="4983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903720" y="4526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tumorales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CA-125 (ovario), CEA (colorrectal), PSA (prostata), AFP, HE4.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Imagenologia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Mamografia digital, TC torax/abdomen, RM hepatica.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longitudinales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 temporal de bioquimicos (12-24 meses).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familiar y </a:t>
            </a: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ambiental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grado, ocupacion (amianto, radon, radiacion).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finales del estudio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hallazgos clave que avalan el rigor metodologico del trabajo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532120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91440" cy="2587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14173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0,5748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508760" y="198424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DEL GANADOR (MLP)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331720"/>
            <a:ext cx="49377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cribado viable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MLP en PyTorch supera a los 4 modelos ML clasicos. Detecta el 63 % de los pacientes con cancer entre los 10.001 de test, con 53 % de precision.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234440"/>
            <a:ext cx="5532120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91440" cy="2587752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492240" y="1508760"/>
            <a:ext cx="594360" cy="594360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4922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23760" y="14173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A0D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223760" y="198424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GLOBAL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92240" y="2331720"/>
            <a:ext cx="49377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49224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neuronal supera a los arboles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2926080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threshold tuning sobre validacion (umbral=0,63), el MLP queda 1º en F1 por delante de RandomForest (0,5719). Los 5 modelos comparten AUC ≈ 0,84.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5532120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57200" y="4005072"/>
            <a:ext cx="91440" cy="2587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777240" y="4279392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777240" y="4279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508760" y="418795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0,862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1508760" y="47548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7240" y="5102352"/>
            <a:ext cx="49377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77240" y="51937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validado contra el modelo generativo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7240" y="5696712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 entre el ranking aprendido y los pesos verdaderos del metadata oficial. El modelo aprende los predictores correctos.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005072"/>
            <a:ext cx="5532120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172200" y="4005072"/>
            <a:ext cx="91440" cy="2587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6492240" y="427939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492240" y="4279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223760" y="418795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SEED=42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223760" y="47548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 ESTRICTA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5102352"/>
            <a:ext cx="49377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492240" y="51937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data leakage en ninguna fase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92240" y="5696712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sobre validacion. Test intacto hasta el final. Scaler ajustado solo en train. cudnn.deterministic = True en PyTorch.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finales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1122</Words>
  <Application>Microsoft Office PowerPoint</Application>
  <PresentationFormat>Panorámica</PresentationFormat>
  <Paragraphs>242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UAX 2025/26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Prediccion de Diagnostico de Cancer</dc:title>
  <dc:subject>Estudio de viabilidad ML vs Red Neuronal MLP</dc:subject>
  <dc:creator>Equipo UAX Ingenieria Matematica</dc:creator>
  <cp:lastModifiedBy>Judith María Salas García</cp:lastModifiedBy>
  <cp:revision>2</cp:revision>
  <dcterms:created xsi:type="dcterms:W3CDTF">2026-05-18T18:56:27Z</dcterms:created>
  <dcterms:modified xsi:type="dcterms:W3CDTF">2026-05-18T19:41:11Z</dcterms:modified>
</cp:coreProperties>
</file>